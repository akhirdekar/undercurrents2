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11"/>
  </p:notesMasterIdLst>
  <p:sldIdLst>
    <p:sldId id="256" r:id="rId2"/>
    <p:sldId id="257" r:id="rId3"/>
    <p:sldId id="266" r:id="rId4"/>
    <p:sldId id="258" r:id="rId5"/>
    <p:sldId id="259" r:id="rId6"/>
    <p:sldId id="261" r:id="rId7"/>
    <p:sldId id="267" r:id="rId8"/>
    <p:sldId id="268" r:id="rId9"/>
    <p:sldId id="26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104" d="100"/>
          <a:sy n="104" d="100"/>
        </p:scale>
        <p:origin x="216"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1CC56F-152B-4BD4-A416-C1F534B7F464}" type="datetimeFigureOut">
              <a:rPr lang="en-US" smtClean="0"/>
              <a:t>10/7/2026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751ABE-1C4D-4563-B9B5-8A488C26F595}" type="slidenum">
              <a:rPr lang="en-US" smtClean="0"/>
              <a:t>‹#›</a:t>
            </a:fld>
            <a:endParaRPr lang="en-US"/>
          </a:p>
        </p:txBody>
      </p:sp>
    </p:spTree>
    <p:extLst>
      <p:ext uri="{BB962C8B-B14F-4D97-AF65-F5344CB8AC3E}">
        <p14:creationId xmlns:p14="http://schemas.microsoft.com/office/powerpoint/2010/main" val="3050691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228600" lvl="0" indent="-228600">
              <a:buFont typeface="Arial" panose="020B0604020202020204" pitchFamily="34" charset="0"/>
              <a:buChar char="•"/>
            </a:pPr>
            <a:r>
              <a:rPr lang="en-US" dirty="0"/>
              <a:t>Limitations with the dataset:</a:t>
            </a:r>
            <a:br>
              <a:rPr lang="en-US" dirty="0"/>
            </a:br>
            <a:r>
              <a:rPr lang="en-US" dirty="0"/>
              <a:t>Limitations with this data:</a:t>
            </a:r>
          </a:p>
          <a:p>
            <a:pPr marL="228600" lvl="0" indent="-228600">
              <a:buFont typeface="Arial" panose="020B0604020202020204" pitchFamily="34" charset="0"/>
              <a:buChar char="•"/>
            </a:pPr>
            <a:r>
              <a:rPr lang="en-US" dirty="0"/>
              <a:t>The dataset doesn’t tell us the condition, capacity, or maintenance history of the catch basin</a:t>
            </a:r>
          </a:p>
          <a:p>
            <a:pPr marL="228600" lvl="0" indent="-228600">
              <a:buFont typeface="Arial" panose="020B0604020202020204" pitchFamily="34" charset="0"/>
              <a:buChar char="•"/>
            </a:pPr>
            <a:r>
              <a:rPr lang="en-US" dirty="0"/>
              <a:t>No information on clogging or downstream capacity</a:t>
            </a:r>
          </a:p>
          <a:p>
            <a:endParaRPr lang="en-US" dirty="0"/>
          </a:p>
        </p:txBody>
      </p:sp>
      <p:sp>
        <p:nvSpPr>
          <p:cNvPr id="4" name="Slide Number Placeholder 3"/>
          <p:cNvSpPr>
            <a:spLocks noGrp="1"/>
          </p:cNvSpPr>
          <p:nvPr>
            <p:ph type="sldNum" sz="quarter" idx="5"/>
          </p:nvPr>
        </p:nvSpPr>
        <p:spPr/>
        <p:txBody>
          <a:bodyPr/>
          <a:lstStyle/>
          <a:p>
            <a:fld id="{7A751ABE-1C4D-4563-B9B5-8A488C26F595}" type="slidenum">
              <a:rPr lang="en-US" smtClean="0"/>
              <a:t>4</a:t>
            </a:fld>
            <a:endParaRPr lang="en-US"/>
          </a:p>
        </p:txBody>
      </p:sp>
    </p:spTree>
    <p:extLst>
      <p:ext uri="{BB962C8B-B14F-4D97-AF65-F5344CB8AC3E}">
        <p14:creationId xmlns:p14="http://schemas.microsoft.com/office/powerpoint/2010/main" val="11031234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3BFD3-C3E2-ABB6-30BB-043AA317AE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8A7682-93FE-449E-4E1F-54F0C1D737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CFDC3B7-49E2-670F-F8EA-ABDF6B5CD7EF}"/>
              </a:ext>
            </a:extLst>
          </p:cNvPr>
          <p:cNvSpPr>
            <a:spLocks noGrp="1"/>
          </p:cNvSpPr>
          <p:nvPr>
            <p:ph type="dt" sz="half" idx="10"/>
          </p:nvPr>
        </p:nvSpPr>
        <p:spPr/>
        <p:txBody>
          <a:bodyPr/>
          <a:lstStyle/>
          <a:p>
            <a:fld id="{F5DAA073-5205-4F7D-80AC-D65164280BB7}" type="datetimeFigureOut">
              <a:rPr lang="en-US" smtClean="0"/>
              <a:t>10/7/2026</a:t>
            </a:fld>
            <a:endParaRPr lang="en-US"/>
          </a:p>
        </p:txBody>
      </p:sp>
      <p:sp>
        <p:nvSpPr>
          <p:cNvPr id="5" name="Footer Placeholder 4">
            <a:extLst>
              <a:ext uri="{FF2B5EF4-FFF2-40B4-BE49-F238E27FC236}">
                <a16:creationId xmlns:a16="http://schemas.microsoft.com/office/drawing/2014/main" id="{593DCD6D-F55A-E025-D257-58D50B1C9F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D3C063-9258-CF23-371A-C1E66B7B8980}"/>
              </a:ext>
            </a:extLst>
          </p:cNvPr>
          <p:cNvSpPr>
            <a:spLocks noGrp="1"/>
          </p:cNvSpPr>
          <p:nvPr>
            <p:ph type="sldNum" sz="quarter" idx="12"/>
          </p:nvPr>
        </p:nvSpPr>
        <p:spPr/>
        <p:txBody>
          <a:bodyPr/>
          <a:lstStyle/>
          <a:p>
            <a:fld id="{B8DDC628-C42F-4333-B2EB-27C0F7B9B4C9}" type="slidenum">
              <a:rPr lang="en-US" smtClean="0"/>
              <a:t>‹#›</a:t>
            </a:fld>
            <a:endParaRPr lang="en-US"/>
          </a:p>
        </p:txBody>
      </p:sp>
    </p:spTree>
    <p:extLst>
      <p:ext uri="{BB962C8B-B14F-4D97-AF65-F5344CB8AC3E}">
        <p14:creationId xmlns:p14="http://schemas.microsoft.com/office/powerpoint/2010/main" val="2755176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2700C-D742-5BED-87C2-495756783C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7181E9-BE72-FCEC-E087-E9B0121778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8CEF1A-F692-B201-48C1-AE29CA71C259}"/>
              </a:ext>
            </a:extLst>
          </p:cNvPr>
          <p:cNvSpPr>
            <a:spLocks noGrp="1"/>
          </p:cNvSpPr>
          <p:nvPr>
            <p:ph type="dt" sz="half" idx="10"/>
          </p:nvPr>
        </p:nvSpPr>
        <p:spPr/>
        <p:txBody>
          <a:bodyPr/>
          <a:lstStyle/>
          <a:p>
            <a:fld id="{F5DAA073-5205-4F7D-80AC-D65164280BB7}" type="datetimeFigureOut">
              <a:rPr lang="en-US" smtClean="0"/>
              <a:t>10/7/2026</a:t>
            </a:fld>
            <a:endParaRPr lang="en-US"/>
          </a:p>
        </p:txBody>
      </p:sp>
      <p:sp>
        <p:nvSpPr>
          <p:cNvPr id="5" name="Footer Placeholder 4">
            <a:extLst>
              <a:ext uri="{FF2B5EF4-FFF2-40B4-BE49-F238E27FC236}">
                <a16:creationId xmlns:a16="http://schemas.microsoft.com/office/drawing/2014/main" id="{0218A622-1965-3DBB-054D-2F3D5D6C57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9DEEBD-0322-52FD-222C-0B91D60D81CC}"/>
              </a:ext>
            </a:extLst>
          </p:cNvPr>
          <p:cNvSpPr>
            <a:spLocks noGrp="1"/>
          </p:cNvSpPr>
          <p:nvPr>
            <p:ph type="sldNum" sz="quarter" idx="12"/>
          </p:nvPr>
        </p:nvSpPr>
        <p:spPr/>
        <p:txBody>
          <a:bodyPr/>
          <a:lstStyle/>
          <a:p>
            <a:fld id="{B8DDC628-C42F-4333-B2EB-27C0F7B9B4C9}" type="slidenum">
              <a:rPr lang="en-US" smtClean="0"/>
              <a:t>‹#›</a:t>
            </a:fld>
            <a:endParaRPr lang="en-US"/>
          </a:p>
        </p:txBody>
      </p:sp>
    </p:spTree>
    <p:extLst>
      <p:ext uri="{BB962C8B-B14F-4D97-AF65-F5344CB8AC3E}">
        <p14:creationId xmlns:p14="http://schemas.microsoft.com/office/powerpoint/2010/main" val="4282247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6F708-1522-70F6-A3D8-727002D99D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AF0E73-42FD-826F-440D-7C882211AB3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9692D9-49C8-91AB-9C40-6EC1D98A8BB2}"/>
              </a:ext>
            </a:extLst>
          </p:cNvPr>
          <p:cNvSpPr>
            <a:spLocks noGrp="1"/>
          </p:cNvSpPr>
          <p:nvPr>
            <p:ph type="dt" sz="half" idx="10"/>
          </p:nvPr>
        </p:nvSpPr>
        <p:spPr/>
        <p:txBody>
          <a:bodyPr/>
          <a:lstStyle/>
          <a:p>
            <a:fld id="{F5DAA073-5205-4F7D-80AC-D65164280BB7}" type="datetimeFigureOut">
              <a:rPr lang="en-US" smtClean="0"/>
              <a:t>10/7/2026</a:t>
            </a:fld>
            <a:endParaRPr lang="en-US"/>
          </a:p>
        </p:txBody>
      </p:sp>
      <p:sp>
        <p:nvSpPr>
          <p:cNvPr id="5" name="Footer Placeholder 4">
            <a:extLst>
              <a:ext uri="{FF2B5EF4-FFF2-40B4-BE49-F238E27FC236}">
                <a16:creationId xmlns:a16="http://schemas.microsoft.com/office/drawing/2014/main" id="{2D48BFC0-DE95-4FE9-9114-2C0886CA77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2A9AF4-85EF-57DD-8108-C1F5D9D99FE4}"/>
              </a:ext>
            </a:extLst>
          </p:cNvPr>
          <p:cNvSpPr>
            <a:spLocks noGrp="1"/>
          </p:cNvSpPr>
          <p:nvPr>
            <p:ph type="sldNum" sz="quarter" idx="12"/>
          </p:nvPr>
        </p:nvSpPr>
        <p:spPr/>
        <p:txBody>
          <a:bodyPr/>
          <a:lstStyle/>
          <a:p>
            <a:fld id="{B8DDC628-C42F-4333-B2EB-27C0F7B9B4C9}" type="slidenum">
              <a:rPr lang="en-US" smtClean="0"/>
              <a:t>‹#›</a:t>
            </a:fld>
            <a:endParaRPr lang="en-US"/>
          </a:p>
        </p:txBody>
      </p:sp>
    </p:spTree>
    <p:extLst>
      <p:ext uri="{BB962C8B-B14F-4D97-AF65-F5344CB8AC3E}">
        <p14:creationId xmlns:p14="http://schemas.microsoft.com/office/powerpoint/2010/main" val="4185964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DDF2F-B7DD-FA0F-BD80-3501C17A11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65B791-B132-DA0A-B75D-25D85F3215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51ABF5-6803-3862-8035-520F0A7156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958A869-E04A-5522-F5C2-0F6FA9A94676}"/>
              </a:ext>
            </a:extLst>
          </p:cNvPr>
          <p:cNvSpPr>
            <a:spLocks noGrp="1"/>
          </p:cNvSpPr>
          <p:nvPr>
            <p:ph type="dt" sz="half" idx="10"/>
          </p:nvPr>
        </p:nvSpPr>
        <p:spPr/>
        <p:txBody>
          <a:bodyPr/>
          <a:lstStyle/>
          <a:p>
            <a:fld id="{F5DAA073-5205-4F7D-80AC-D65164280BB7}" type="datetimeFigureOut">
              <a:rPr lang="en-US" smtClean="0"/>
              <a:t>10/7/2026</a:t>
            </a:fld>
            <a:endParaRPr lang="en-US"/>
          </a:p>
        </p:txBody>
      </p:sp>
      <p:sp>
        <p:nvSpPr>
          <p:cNvPr id="6" name="Footer Placeholder 5">
            <a:extLst>
              <a:ext uri="{FF2B5EF4-FFF2-40B4-BE49-F238E27FC236}">
                <a16:creationId xmlns:a16="http://schemas.microsoft.com/office/drawing/2014/main" id="{70CF28CD-8E65-7464-4B6D-FD2792F251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B9BDF9-C750-14F4-8BD0-1798DCB080C2}"/>
              </a:ext>
            </a:extLst>
          </p:cNvPr>
          <p:cNvSpPr>
            <a:spLocks noGrp="1"/>
          </p:cNvSpPr>
          <p:nvPr>
            <p:ph type="sldNum" sz="quarter" idx="12"/>
          </p:nvPr>
        </p:nvSpPr>
        <p:spPr/>
        <p:txBody>
          <a:bodyPr/>
          <a:lstStyle/>
          <a:p>
            <a:fld id="{B8DDC628-C42F-4333-B2EB-27C0F7B9B4C9}" type="slidenum">
              <a:rPr lang="en-US" smtClean="0"/>
              <a:t>‹#›</a:t>
            </a:fld>
            <a:endParaRPr lang="en-US"/>
          </a:p>
        </p:txBody>
      </p:sp>
    </p:spTree>
    <p:extLst>
      <p:ext uri="{BB962C8B-B14F-4D97-AF65-F5344CB8AC3E}">
        <p14:creationId xmlns:p14="http://schemas.microsoft.com/office/powerpoint/2010/main" val="4274514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17E0D-7C8D-CDF8-0F48-3F3D117DA3A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008FBDC-384D-0174-39AE-7ED498BF99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0056F5-A3AF-45E6-508C-553BA4B484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07304F7-5EB2-0F0C-6B1B-0AD0C708F6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52408A-8611-B240-AB1F-D695869C9D3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8278FC-026B-DE3D-9308-10D6A1CD5FE7}"/>
              </a:ext>
            </a:extLst>
          </p:cNvPr>
          <p:cNvSpPr>
            <a:spLocks noGrp="1"/>
          </p:cNvSpPr>
          <p:nvPr>
            <p:ph type="dt" sz="half" idx="10"/>
          </p:nvPr>
        </p:nvSpPr>
        <p:spPr/>
        <p:txBody>
          <a:bodyPr/>
          <a:lstStyle/>
          <a:p>
            <a:fld id="{F5DAA073-5205-4F7D-80AC-D65164280BB7}" type="datetimeFigureOut">
              <a:rPr lang="en-US" smtClean="0"/>
              <a:t>10/7/2026</a:t>
            </a:fld>
            <a:endParaRPr lang="en-US"/>
          </a:p>
        </p:txBody>
      </p:sp>
      <p:sp>
        <p:nvSpPr>
          <p:cNvPr id="8" name="Footer Placeholder 7">
            <a:extLst>
              <a:ext uri="{FF2B5EF4-FFF2-40B4-BE49-F238E27FC236}">
                <a16:creationId xmlns:a16="http://schemas.microsoft.com/office/drawing/2014/main" id="{CF972433-E872-18F3-8070-E1B0BCD2902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CAC43BA-5220-82C6-A399-C3C35401CB30}"/>
              </a:ext>
            </a:extLst>
          </p:cNvPr>
          <p:cNvSpPr>
            <a:spLocks noGrp="1"/>
          </p:cNvSpPr>
          <p:nvPr>
            <p:ph type="sldNum" sz="quarter" idx="12"/>
          </p:nvPr>
        </p:nvSpPr>
        <p:spPr/>
        <p:txBody>
          <a:bodyPr/>
          <a:lstStyle/>
          <a:p>
            <a:fld id="{B8DDC628-C42F-4333-B2EB-27C0F7B9B4C9}" type="slidenum">
              <a:rPr lang="en-US" smtClean="0"/>
              <a:t>‹#›</a:t>
            </a:fld>
            <a:endParaRPr lang="en-US"/>
          </a:p>
        </p:txBody>
      </p:sp>
    </p:spTree>
    <p:extLst>
      <p:ext uri="{BB962C8B-B14F-4D97-AF65-F5344CB8AC3E}">
        <p14:creationId xmlns:p14="http://schemas.microsoft.com/office/powerpoint/2010/main" val="1952160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64F56-6328-B7BC-AF2B-EEEA721345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6FFB3F9-1AF0-A1A7-7FF2-78DE637241AD}"/>
              </a:ext>
            </a:extLst>
          </p:cNvPr>
          <p:cNvSpPr>
            <a:spLocks noGrp="1"/>
          </p:cNvSpPr>
          <p:nvPr>
            <p:ph type="dt" sz="half" idx="10"/>
          </p:nvPr>
        </p:nvSpPr>
        <p:spPr/>
        <p:txBody>
          <a:bodyPr/>
          <a:lstStyle/>
          <a:p>
            <a:fld id="{F5DAA073-5205-4F7D-80AC-D65164280BB7}" type="datetimeFigureOut">
              <a:rPr lang="en-US" smtClean="0"/>
              <a:t>10/7/2026</a:t>
            </a:fld>
            <a:endParaRPr lang="en-US"/>
          </a:p>
        </p:txBody>
      </p:sp>
      <p:sp>
        <p:nvSpPr>
          <p:cNvPr id="4" name="Footer Placeholder 3">
            <a:extLst>
              <a:ext uri="{FF2B5EF4-FFF2-40B4-BE49-F238E27FC236}">
                <a16:creationId xmlns:a16="http://schemas.microsoft.com/office/drawing/2014/main" id="{C873FB89-ABF7-E6BD-4982-DD21529BA5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8BC84E6-680D-AEDC-8182-E5F766759E2D}"/>
              </a:ext>
            </a:extLst>
          </p:cNvPr>
          <p:cNvSpPr>
            <a:spLocks noGrp="1"/>
          </p:cNvSpPr>
          <p:nvPr>
            <p:ph type="sldNum" sz="quarter" idx="12"/>
          </p:nvPr>
        </p:nvSpPr>
        <p:spPr/>
        <p:txBody>
          <a:bodyPr/>
          <a:lstStyle/>
          <a:p>
            <a:fld id="{B8DDC628-C42F-4333-B2EB-27C0F7B9B4C9}" type="slidenum">
              <a:rPr lang="en-US" smtClean="0"/>
              <a:t>‹#›</a:t>
            </a:fld>
            <a:endParaRPr lang="en-US"/>
          </a:p>
        </p:txBody>
      </p:sp>
    </p:spTree>
    <p:extLst>
      <p:ext uri="{BB962C8B-B14F-4D97-AF65-F5344CB8AC3E}">
        <p14:creationId xmlns:p14="http://schemas.microsoft.com/office/powerpoint/2010/main" val="957230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91739D-ECE5-ABEC-EA84-F1BD1200EC78}"/>
              </a:ext>
            </a:extLst>
          </p:cNvPr>
          <p:cNvSpPr>
            <a:spLocks noGrp="1"/>
          </p:cNvSpPr>
          <p:nvPr>
            <p:ph type="dt" sz="half" idx="10"/>
          </p:nvPr>
        </p:nvSpPr>
        <p:spPr/>
        <p:txBody>
          <a:bodyPr/>
          <a:lstStyle/>
          <a:p>
            <a:fld id="{F5DAA073-5205-4F7D-80AC-D65164280BB7}" type="datetimeFigureOut">
              <a:rPr lang="en-US" smtClean="0"/>
              <a:t>10/7/2026</a:t>
            </a:fld>
            <a:endParaRPr lang="en-US"/>
          </a:p>
        </p:txBody>
      </p:sp>
      <p:sp>
        <p:nvSpPr>
          <p:cNvPr id="3" name="Footer Placeholder 2">
            <a:extLst>
              <a:ext uri="{FF2B5EF4-FFF2-40B4-BE49-F238E27FC236}">
                <a16:creationId xmlns:a16="http://schemas.microsoft.com/office/drawing/2014/main" id="{8FE784D2-7815-B0DB-4122-96139D53444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9E2C9E-94BA-FAF5-2FD7-59A364F1A674}"/>
              </a:ext>
            </a:extLst>
          </p:cNvPr>
          <p:cNvSpPr>
            <a:spLocks noGrp="1"/>
          </p:cNvSpPr>
          <p:nvPr>
            <p:ph type="sldNum" sz="quarter" idx="12"/>
          </p:nvPr>
        </p:nvSpPr>
        <p:spPr/>
        <p:txBody>
          <a:bodyPr/>
          <a:lstStyle/>
          <a:p>
            <a:fld id="{B8DDC628-C42F-4333-B2EB-27C0F7B9B4C9}" type="slidenum">
              <a:rPr lang="en-US" smtClean="0"/>
              <a:t>‹#›</a:t>
            </a:fld>
            <a:endParaRPr lang="en-US"/>
          </a:p>
        </p:txBody>
      </p:sp>
    </p:spTree>
    <p:extLst>
      <p:ext uri="{BB962C8B-B14F-4D97-AF65-F5344CB8AC3E}">
        <p14:creationId xmlns:p14="http://schemas.microsoft.com/office/powerpoint/2010/main" val="31304957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9CFD5-CF4A-A074-D480-4E4D0D51C1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837100-573D-D025-9348-8781BABEE2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A650326-45BA-D3A5-E7DD-A582E358E0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15096B-0AEC-97FA-0E8B-156F6EB637DD}"/>
              </a:ext>
            </a:extLst>
          </p:cNvPr>
          <p:cNvSpPr>
            <a:spLocks noGrp="1"/>
          </p:cNvSpPr>
          <p:nvPr>
            <p:ph type="dt" sz="half" idx="10"/>
          </p:nvPr>
        </p:nvSpPr>
        <p:spPr/>
        <p:txBody>
          <a:bodyPr/>
          <a:lstStyle/>
          <a:p>
            <a:fld id="{F5DAA073-5205-4F7D-80AC-D65164280BB7}" type="datetimeFigureOut">
              <a:rPr lang="en-US" smtClean="0"/>
              <a:t>10/7/2026</a:t>
            </a:fld>
            <a:endParaRPr lang="en-US"/>
          </a:p>
        </p:txBody>
      </p:sp>
      <p:sp>
        <p:nvSpPr>
          <p:cNvPr id="6" name="Footer Placeholder 5">
            <a:extLst>
              <a:ext uri="{FF2B5EF4-FFF2-40B4-BE49-F238E27FC236}">
                <a16:creationId xmlns:a16="http://schemas.microsoft.com/office/drawing/2014/main" id="{44B98C4E-2D72-C893-6222-5FAF908EE6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103397-289C-5752-E4D3-0869F8D8B25A}"/>
              </a:ext>
            </a:extLst>
          </p:cNvPr>
          <p:cNvSpPr>
            <a:spLocks noGrp="1"/>
          </p:cNvSpPr>
          <p:nvPr>
            <p:ph type="sldNum" sz="quarter" idx="12"/>
          </p:nvPr>
        </p:nvSpPr>
        <p:spPr/>
        <p:txBody>
          <a:bodyPr/>
          <a:lstStyle/>
          <a:p>
            <a:fld id="{B8DDC628-C42F-4333-B2EB-27C0F7B9B4C9}" type="slidenum">
              <a:rPr lang="en-US" smtClean="0"/>
              <a:t>‹#›</a:t>
            </a:fld>
            <a:endParaRPr lang="en-US"/>
          </a:p>
        </p:txBody>
      </p:sp>
    </p:spTree>
    <p:extLst>
      <p:ext uri="{BB962C8B-B14F-4D97-AF65-F5344CB8AC3E}">
        <p14:creationId xmlns:p14="http://schemas.microsoft.com/office/powerpoint/2010/main" val="3111355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6217B-EB7C-74AB-9B9C-DF71D7E602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0D26C8B-7476-C6AE-31B4-FB07B6DCE40C}"/>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3AA3AAE-97FE-774E-1F12-6203D3B546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AA2471-D1E4-6523-7557-A1B4DF317368}"/>
              </a:ext>
            </a:extLst>
          </p:cNvPr>
          <p:cNvSpPr>
            <a:spLocks noGrp="1"/>
          </p:cNvSpPr>
          <p:nvPr>
            <p:ph type="dt" sz="half" idx="10"/>
          </p:nvPr>
        </p:nvSpPr>
        <p:spPr/>
        <p:txBody>
          <a:bodyPr/>
          <a:lstStyle/>
          <a:p>
            <a:fld id="{F5DAA073-5205-4F7D-80AC-D65164280BB7}" type="datetimeFigureOut">
              <a:rPr lang="en-US" smtClean="0"/>
              <a:t>10/7/2026</a:t>
            </a:fld>
            <a:endParaRPr lang="en-US"/>
          </a:p>
        </p:txBody>
      </p:sp>
      <p:sp>
        <p:nvSpPr>
          <p:cNvPr id="6" name="Footer Placeholder 5">
            <a:extLst>
              <a:ext uri="{FF2B5EF4-FFF2-40B4-BE49-F238E27FC236}">
                <a16:creationId xmlns:a16="http://schemas.microsoft.com/office/drawing/2014/main" id="{3422E3C3-CB57-724F-F805-12A088FB03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C29BE4-48F8-EBCE-FD31-CCC10FD1411F}"/>
              </a:ext>
            </a:extLst>
          </p:cNvPr>
          <p:cNvSpPr>
            <a:spLocks noGrp="1"/>
          </p:cNvSpPr>
          <p:nvPr>
            <p:ph type="sldNum" sz="quarter" idx="12"/>
          </p:nvPr>
        </p:nvSpPr>
        <p:spPr/>
        <p:txBody>
          <a:bodyPr/>
          <a:lstStyle/>
          <a:p>
            <a:fld id="{B8DDC628-C42F-4333-B2EB-27C0F7B9B4C9}" type="slidenum">
              <a:rPr lang="en-US" smtClean="0"/>
              <a:t>‹#›</a:t>
            </a:fld>
            <a:endParaRPr lang="en-US"/>
          </a:p>
        </p:txBody>
      </p:sp>
    </p:spTree>
    <p:extLst>
      <p:ext uri="{BB962C8B-B14F-4D97-AF65-F5344CB8AC3E}">
        <p14:creationId xmlns:p14="http://schemas.microsoft.com/office/powerpoint/2010/main" val="332389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946C3-41D8-47DB-BB60-9C2D1C1E132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1E9CCA0-0899-AFCC-F585-E06B183B2F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5DCCFE-80ED-A9C1-1256-9F40809E9CE0}"/>
              </a:ext>
            </a:extLst>
          </p:cNvPr>
          <p:cNvSpPr>
            <a:spLocks noGrp="1"/>
          </p:cNvSpPr>
          <p:nvPr>
            <p:ph type="dt" sz="half" idx="10"/>
          </p:nvPr>
        </p:nvSpPr>
        <p:spPr/>
        <p:txBody>
          <a:bodyPr/>
          <a:lstStyle/>
          <a:p>
            <a:fld id="{F5DAA073-5205-4F7D-80AC-D65164280BB7}" type="datetimeFigureOut">
              <a:rPr lang="en-US" smtClean="0"/>
              <a:t>10/7/2026</a:t>
            </a:fld>
            <a:endParaRPr lang="en-US"/>
          </a:p>
        </p:txBody>
      </p:sp>
      <p:sp>
        <p:nvSpPr>
          <p:cNvPr id="5" name="Footer Placeholder 4">
            <a:extLst>
              <a:ext uri="{FF2B5EF4-FFF2-40B4-BE49-F238E27FC236}">
                <a16:creationId xmlns:a16="http://schemas.microsoft.com/office/drawing/2014/main" id="{655268DC-FE26-B7A1-C748-4C8313704E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95C7D3-8274-E3B0-12B3-B0C495D4135D}"/>
              </a:ext>
            </a:extLst>
          </p:cNvPr>
          <p:cNvSpPr>
            <a:spLocks noGrp="1"/>
          </p:cNvSpPr>
          <p:nvPr>
            <p:ph type="sldNum" sz="quarter" idx="12"/>
          </p:nvPr>
        </p:nvSpPr>
        <p:spPr/>
        <p:txBody>
          <a:bodyPr/>
          <a:lstStyle/>
          <a:p>
            <a:fld id="{B8DDC628-C42F-4333-B2EB-27C0F7B9B4C9}" type="slidenum">
              <a:rPr lang="en-US" smtClean="0"/>
              <a:t>‹#›</a:t>
            </a:fld>
            <a:endParaRPr lang="en-US"/>
          </a:p>
        </p:txBody>
      </p:sp>
    </p:spTree>
    <p:extLst>
      <p:ext uri="{BB962C8B-B14F-4D97-AF65-F5344CB8AC3E}">
        <p14:creationId xmlns:p14="http://schemas.microsoft.com/office/powerpoint/2010/main" val="4131825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617921-7C51-2E8C-4ED0-1C007694F11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2357174-A856-184C-BDBA-AAA961A7FC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C12DDE-6E72-0DA9-4BA7-091CCC35E036}"/>
              </a:ext>
            </a:extLst>
          </p:cNvPr>
          <p:cNvSpPr>
            <a:spLocks noGrp="1"/>
          </p:cNvSpPr>
          <p:nvPr>
            <p:ph type="dt" sz="half" idx="10"/>
          </p:nvPr>
        </p:nvSpPr>
        <p:spPr/>
        <p:txBody>
          <a:bodyPr/>
          <a:lstStyle/>
          <a:p>
            <a:fld id="{F5DAA073-5205-4F7D-80AC-D65164280BB7}" type="datetimeFigureOut">
              <a:rPr lang="en-US" smtClean="0"/>
              <a:t>10/7/2026</a:t>
            </a:fld>
            <a:endParaRPr lang="en-US"/>
          </a:p>
        </p:txBody>
      </p:sp>
      <p:sp>
        <p:nvSpPr>
          <p:cNvPr id="5" name="Footer Placeholder 4">
            <a:extLst>
              <a:ext uri="{FF2B5EF4-FFF2-40B4-BE49-F238E27FC236}">
                <a16:creationId xmlns:a16="http://schemas.microsoft.com/office/drawing/2014/main" id="{07E720BE-2C35-578D-C10D-076017F064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033FAE-44DA-9085-A99F-EA3CAEE10218}"/>
              </a:ext>
            </a:extLst>
          </p:cNvPr>
          <p:cNvSpPr>
            <a:spLocks noGrp="1"/>
          </p:cNvSpPr>
          <p:nvPr>
            <p:ph type="sldNum" sz="quarter" idx="12"/>
          </p:nvPr>
        </p:nvSpPr>
        <p:spPr/>
        <p:txBody>
          <a:bodyPr/>
          <a:lstStyle/>
          <a:p>
            <a:fld id="{B8DDC628-C42F-4333-B2EB-27C0F7B9B4C9}" type="slidenum">
              <a:rPr lang="en-US" smtClean="0"/>
              <a:t>‹#›</a:t>
            </a:fld>
            <a:endParaRPr lang="en-US"/>
          </a:p>
        </p:txBody>
      </p:sp>
    </p:spTree>
    <p:extLst>
      <p:ext uri="{BB962C8B-B14F-4D97-AF65-F5344CB8AC3E}">
        <p14:creationId xmlns:p14="http://schemas.microsoft.com/office/powerpoint/2010/main" val="1960610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58EF7-1E8A-A365-B9BF-2AE8A5BE05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81BA2EC-43D5-BEF4-BEBC-A475B17C20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FED43C-FF7B-E286-F05B-DFFA5EA5B4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5DAA073-5205-4F7D-80AC-D65164280BB7}" type="datetimeFigureOut">
              <a:rPr lang="en-US" smtClean="0"/>
              <a:t>10/7/2026</a:t>
            </a:fld>
            <a:endParaRPr lang="en-US"/>
          </a:p>
        </p:txBody>
      </p:sp>
      <p:sp>
        <p:nvSpPr>
          <p:cNvPr id="5" name="Footer Placeholder 4">
            <a:extLst>
              <a:ext uri="{FF2B5EF4-FFF2-40B4-BE49-F238E27FC236}">
                <a16:creationId xmlns:a16="http://schemas.microsoft.com/office/drawing/2014/main" id="{A0175C17-A8D7-E329-360C-7671220AE1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903B91D-3478-8DCF-9523-24029369C8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DDC628-C42F-4333-B2EB-27C0F7B9B4C9}" type="slidenum">
              <a:rPr lang="en-US" smtClean="0"/>
              <a:t>‹#›</a:t>
            </a:fld>
            <a:endParaRPr lang="en-US"/>
          </a:p>
        </p:txBody>
      </p:sp>
    </p:spTree>
    <p:extLst>
      <p:ext uri="{BB962C8B-B14F-4D97-AF65-F5344CB8AC3E}">
        <p14:creationId xmlns:p14="http://schemas.microsoft.com/office/powerpoint/2010/main" val="2582469190"/>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239C0-D063-55A1-6C5C-8170388B6D63}"/>
              </a:ext>
            </a:extLst>
          </p:cNvPr>
          <p:cNvSpPr>
            <a:spLocks noGrp="1"/>
          </p:cNvSpPr>
          <p:nvPr>
            <p:ph type="ctrTitle"/>
          </p:nvPr>
        </p:nvSpPr>
        <p:spPr>
          <a:xfrm>
            <a:off x="1103243" y="1122363"/>
            <a:ext cx="9760227" cy="2387600"/>
          </a:xfrm>
        </p:spPr>
        <p:txBody>
          <a:bodyPr>
            <a:normAutofit/>
          </a:bodyPr>
          <a:lstStyle/>
          <a:p>
            <a:r>
              <a:rPr lang="en-US" sz="4800" b="1" dirty="0">
                <a:latin typeface="+mn-lt"/>
              </a:rPr>
              <a:t>NYC Catch Basins</a:t>
            </a:r>
            <a:br>
              <a:rPr lang="en-US" sz="4800" b="1" dirty="0">
                <a:latin typeface="+mn-lt"/>
              </a:rPr>
            </a:br>
            <a:r>
              <a:rPr lang="en-US" sz="2000" b="1" i="1" dirty="0"/>
              <a:t>Mapping New York City’s street wide drainage systems</a:t>
            </a:r>
            <a:br>
              <a:rPr lang="en-US" sz="2000" b="1" i="1" dirty="0">
                <a:latin typeface="+mn-lt"/>
              </a:rPr>
            </a:br>
            <a:endParaRPr lang="en-US" sz="2000" b="1" i="1" dirty="0">
              <a:latin typeface="+mn-lt"/>
            </a:endParaRPr>
          </a:p>
        </p:txBody>
      </p:sp>
      <p:sp>
        <p:nvSpPr>
          <p:cNvPr id="3" name="Subtitle 2">
            <a:extLst>
              <a:ext uri="{FF2B5EF4-FFF2-40B4-BE49-F238E27FC236}">
                <a16:creationId xmlns:a16="http://schemas.microsoft.com/office/drawing/2014/main" id="{2791F7A9-E285-9A1A-4F08-8AAC3C11329C}"/>
              </a:ext>
            </a:extLst>
          </p:cNvPr>
          <p:cNvSpPr>
            <a:spLocks noGrp="1"/>
          </p:cNvSpPr>
          <p:nvPr>
            <p:ph type="subTitle" idx="1"/>
          </p:nvPr>
        </p:nvSpPr>
        <p:spPr/>
        <p:txBody>
          <a:bodyPr>
            <a:normAutofit fontScale="92500" lnSpcReduction="10000"/>
          </a:bodyPr>
          <a:lstStyle/>
          <a:p>
            <a:r>
              <a:rPr lang="en-US" dirty="0"/>
              <a:t>Theme: Undercurrents</a:t>
            </a:r>
          </a:p>
          <a:p>
            <a:r>
              <a:rPr lang="en-US" dirty="0"/>
              <a:t>Abhijeet Khirdekar</a:t>
            </a:r>
          </a:p>
          <a:p>
            <a:r>
              <a:rPr lang="en-US" dirty="0"/>
              <a:t>Data Visualization – Midterm Part 1</a:t>
            </a:r>
          </a:p>
          <a:p>
            <a:r>
              <a:rPr lang="en-US" dirty="0"/>
              <a:t>Professor Shoushtary</a:t>
            </a:r>
          </a:p>
        </p:txBody>
      </p:sp>
      <p:pic>
        <p:nvPicPr>
          <p:cNvPr id="4" name="Picture 3" descr="NYC Catch Basins - American Cast Iron Products, Inc.">
            <a:extLst>
              <a:ext uri="{FF2B5EF4-FFF2-40B4-BE49-F238E27FC236}">
                <a16:creationId xmlns:a16="http://schemas.microsoft.com/office/drawing/2014/main" id="{8424F7C3-9990-6C67-DC36-CC7AF557E449}"/>
              </a:ext>
            </a:extLst>
          </p:cNvPr>
          <p:cNvPicPr>
            <a:picLocks noChangeAspect="1"/>
          </p:cNvPicPr>
          <p:nvPr/>
        </p:nvPicPr>
        <p:blipFill>
          <a:blip r:embed="rId2"/>
          <a:stretch>
            <a:fillRect/>
          </a:stretch>
        </p:blipFill>
        <p:spPr>
          <a:xfrm>
            <a:off x="260157" y="4259287"/>
            <a:ext cx="3271125" cy="2181176"/>
          </a:xfrm>
          <a:prstGeom prst="rect">
            <a:avLst/>
          </a:prstGeom>
        </p:spPr>
      </p:pic>
      <p:pic>
        <p:nvPicPr>
          <p:cNvPr id="5" name="Picture 4" descr="Flooding and Climate Change - NYC DEP">
            <a:extLst>
              <a:ext uri="{FF2B5EF4-FFF2-40B4-BE49-F238E27FC236}">
                <a16:creationId xmlns:a16="http://schemas.microsoft.com/office/drawing/2014/main" id="{1F3DE355-B084-723E-0804-BE131C700980}"/>
              </a:ext>
            </a:extLst>
          </p:cNvPr>
          <p:cNvPicPr>
            <a:picLocks noChangeAspect="1"/>
          </p:cNvPicPr>
          <p:nvPr/>
        </p:nvPicPr>
        <p:blipFill>
          <a:blip r:embed="rId3"/>
          <a:stretch>
            <a:fillRect/>
          </a:stretch>
        </p:blipFill>
        <p:spPr>
          <a:xfrm>
            <a:off x="8208428" y="4783137"/>
            <a:ext cx="3810000" cy="1905000"/>
          </a:xfrm>
          <a:prstGeom prst="rect">
            <a:avLst/>
          </a:prstGeom>
        </p:spPr>
      </p:pic>
      <p:pic>
        <p:nvPicPr>
          <p:cNvPr id="6" name="Picture 5" descr="Adopt-a-Catch Basin - NYC DEP">
            <a:extLst>
              <a:ext uri="{FF2B5EF4-FFF2-40B4-BE49-F238E27FC236}">
                <a16:creationId xmlns:a16="http://schemas.microsoft.com/office/drawing/2014/main" id="{ED8FFB1A-C321-FA67-BFE3-880EE273647C}"/>
              </a:ext>
            </a:extLst>
          </p:cNvPr>
          <p:cNvPicPr>
            <a:picLocks noChangeAspect="1"/>
          </p:cNvPicPr>
          <p:nvPr/>
        </p:nvPicPr>
        <p:blipFill>
          <a:blip r:embed="rId4"/>
          <a:stretch>
            <a:fillRect/>
          </a:stretch>
        </p:blipFill>
        <p:spPr>
          <a:xfrm>
            <a:off x="9142829" y="1016323"/>
            <a:ext cx="2395855" cy="2806103"/>
          </a:xfrm>
          <a:prstGeom prst="rect">
            <a:avLst/>
          </a:prstGeom>
        </p:spPr>
      </p:pic>
      <p:pic>
        <p:nvPicPr>
          <p:cNvPr id="8" name="Picture 7">
            <a:extLst>
              <a:ext uri="{FF2B5EF4-FFF2-40B4-BE49-F238E27FC236}">
                <a16:creationId xmlns:a16="http://schemas.microsoft.com/office/drawing/2014/main" id="{3C299CD7-7427-F01C-41C4-85DEE790A39E}"/>
              </a:ext>
            </a:extLst>
          </p:cNvPr>
          <p:cNvPicPr>
            <a:picLocks noChangeAspect="1"/>
          </p:cNvPicPr>
          <p:nvPr/>
        </p:nvPicPr>
        <p:blipFill>
          <a:blip r:embed="rId5"/>
          <a:stretch>
            <a:fillRect/>
          </a:stretch>
        </p:blipFill>
        <p:spPr>
          <a:xfrm>
            <a:off x="471930" y="330416"/>
            <a:ext cx="2308092" cy="2268297"/>
          </a:xfrm>
          <a:prstGeom prst="rect">
            <a:avLst/>
          </a:prstGeom>
        </p:spPr>
      </p:pic>
    </p:spTree>
    <p:extLst>
      <p:ext uri="{BB962C8B-B14F-4D97-AF65-F5344CB8AC3E}">
        <p14:creationId xmlns:p14="http://schemas.microsoft.com/office/powerpoint/2010/main" val="1355788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56FB9-F91B-2896-9519-76D7581FE9F7}"/>
              </a:ext>
            </a:extLst>
          </p:cNvPr>
          <p:cNvSpPr>
            <a:spLocks noGrp="1"/>
          </p:cNvSpPr>
          <p:nvPr>
            <p:ph type="title"/>
          </p:nvPr>
        </p:nvSpPr>
        <p:spPr>
          <a:xfrm>
            <a:off x="169277" y="0"/>
            <a:ext cx="10515600" cy="1325563"/>
          </a:xfrm>
        </p:spPr>
        <p:txBody>
          <a:bodyPr>
            <a:normAutofit/>
          </a:bodyPr>
          <a:lstStyle/>
          <a:p>
            <a:r>
              <a:rPr lang="en-US" b="1" dirty="0">
                <a:latin typeface="+mn-lt"/>
              </a:rPr>
              <a:t>Why Catchbasins?</a:t>
            </a:r>
          </a:p>
        </p:txBody>
      </p:sp>
      <p:sp>
        <p:nvSpPr>
          <p:cNvPr id="3" name="Content Placeholder 2">
            <a:extLst>
              <a:ext uri="{FF2B5EF4-FFF2-40B4-BE49-F238E27FC236}">
                <a16:creationId xmlns:a16="http://schemas.microsoft.com/office/drawing/2014/main" id="{212D1B62-90F4-1B6E-5F76-5F25F95C687E}"/>
              </a:ext>
            </a:extLst>
          </p:cNvPr>
          <p:cNvSpPr>
            <a:spLocks noGrp="1"/>
          </p:cNvSpPr>
          <p:nvPr>
            <p:ph idx="1"/>
          </p:nvPr>
        </p:nvSpPr>
        <p:spPr>
          <a:xfrm>
            <a:off x="361077" y="1110781"/>
            <a:ext cx="10515600" cy="5148870"/>
          </a:xfrm>
        </p:spPr>
        <p:txBody>
          <a:bodyPr>
            <a:normAutofit fontScale="92500" lnSpcReduction="20000"/>
          </a:bodyPr>
          <a:lstStyle/>
          <a:p>
            <a:pPr marL="0" indent="0">
              <a:buNone/>
            </a:pPr>
            <a:r>
              <a:rPr lang="en-US" sz="2000" b="1" dirty="0"/>
              <a:t>Why this matters?</a:t>
            </a:r>
          </a:p>
          <a:p>
            <a:r>
              <a:rPr lang="en-US" sz="2000" dirty="0"/>
              <a:t>Catch basins collect street water runoff. They are important pieces of infrastructure that New Yorkers rely on when it rains. Catchbasins connect to the sewer system and channel stormwater runoff into one of NYC’s 14 wastewater treatment plants, or a nearby waterbody. </a:t>
            </a:r>
          </a:p>
          <a:p>
            <a:pPr marL="0" indent="0">
              <a:buNone/>
            </a:pPr>
            <a:r>
              <a:rPr lang="en-US" sz="2000" b="1" dirty="0"/>
              <a:t>Who is this for?</a:t>
            </a:r>
          </a:p>
          <a:p>
            <a:r>
              <a:rPr lang="en-US" sz="2000" dirty="0"/>
              <a:t>New York City residents, community boards, and environmental planners, such as those who work at the NYC DEP (Dept. of Environmental Protection). This could also help out Civil Engineers and construction workers.</a:t>
            </a:r>
          </a:p>
          <a:p>
            <a:pPr marL="0" indent="0">
              <a:buNone/>
            </a:pPr>
            <a:r>
              <a:rPr lang="en-US" sz="2000" b="1" dirty="0"/>
              <a:t>Key Questions:</a:t>
            </a:r>
          </a:p>
          <a:p>
            <a:r>
              <a:rPr lang="en-US" sz="2000" b="1" dirty="0"/>
              <a:t>What street patterns become visible when plotting catch basins? </a:t>
            </a:r>
          </a:p>
          <a:p>
            <a:pPr marL="0" indent="0">
              <a:buNone/>
            </a:pPr>
            <a:r>
              <a:rPr lang="en-US" sz="2000" dirty="0">
                <a:sym typeface="Wingdings" panose="05000000000000000000" pitchFamily="2" charset="2"/>
              </a:rPr>
              <a:t>	</a:t>
            </a:r>
            <a:r>
              <a:rPr lang="en-US" sz="1900" dirty="0">
                <a:sym typeface="Wingdings" panose="05000000000000000000" pitchFamily="2" charset="2"/>
              </a:rPr>
              <a:t> </a:t>
            </a:r>
            <a:r>
              <a:rPr lang="en-US" sz="1900" dirty="0"/>
              <a:t>The tension between nature and urban control</a:t>
            </a:r>
          </a:p>
          <a:p>
            <a:r>
              <a:rPr lang="en-US" sz="2000" b="1" dirty="0"/>
              <a:t>Are there discrepancies regarding geographic location and catch basin location and why?</a:t>
            </a:r>
          </a:p>
          <a:p>
            <a:pPr marL="0" indent="0">
              <a:buNone/>
            </a:pPr>
            <a:r>
              <a:rPr lang="en-US" sz="1200" dirty="0"/>
              <a:t>	</a:t>
            </a:r>
            <a:r>
              <a:rPr lang="en-US" sz="2100" dirty="0">
                <a:sym typeface="Wingdings" panose="05000000000000000000" pitchFamily="2" charset="2"/>
              </a:rPr>
              <a:t> </a:t>
            </a:r>
            <a:r>
              <a:rPr lang="en-US" sz="2100" dirty="0"/>
              <a:t>Higher density catch basin areas are typically located in areas with NYC’s old streams, 	shorelines, or flood zones</a:t>
            </a:r>
            <a:r>
              <a:rPr lang="en-US" sz="2400" dirty="0"/>
              <a:t> </a:t>
            </a:r>
            <a:endParaRPr lang="en-US" sz="2100" dirty="0"/>
          </a:p>
          <a:p>
            <a:r>
              <a:rPr lang="en-US" sz="2000" b="1" dirty="0"/>
              <a:t>Are newer, re-zoned neighborhoods equipped with denser, more modern catch basin infrastructure compared to older zones?</a:t>
            </a:r>
          </a:p>
          <a:p>
            <a:pPr marL="0" indent="0">
              <a:buNone/>
            </a:pPr>
            <a:r>
              <a:rPr lang="en-US" sz="2000" dirty="0">
                <a:sym typeface="Wingdings" panose="05000000000000000000" pitchFamily="2" charset="2"/>
              </a:rPr>
              <a:t>	 </a:t>
            </a:r>
            <a:r>
              <a:rPr lang="en-US" sz="2000" dirty="0"/>
              <a:t>Infrastructure equity and the wealth inequality. </a:t>
            </a:r>
          </a:p>
        </p:txBody>
      </p:sp>
      <p:pic>
        <p:nvPicPr>
          <p:cNvPr id="4" name="Picture 3" descr="Document Portal - DEP">
            <a:extLst>
              <a:ext uri="{FF2B5EF4-FFF2-40B4-BE49-F238E27FC236}">
                <a16:creationId xmlns:a16="http://schemas.microsoft.com/office/drawing/2014/main" id="{FA3C536B-FDB9-47AC-C46C-D490B244DBD1}"/>
              </a:ext>
            </a:extLst>
          </p:cNvPr>
          <p:cNvPicPr>
            <a:picLocks noChangeAspect="1"/>
          </p:cNvPicPr>
          <p:nvPr/>
        </p:nvPicPr>
        <p:blipFill>
          <a:blip r:embed="rId2"/>
          <a:stretch>
            <a:fillRect/>
          </a:stretch>
        </p:blipFill>
        <p:spPr>
          <a:xfrm>
            <a:off x="10366580" y="49007"/>
            <a:ext cx="1403794" cy="1403794"/>
          </a:xfrm>
          <a:prstGeom prst="rect">
            <a:avLst/>
          </a:prstGeom>
        </p:spPr>
      </p:pic>
    </p:spTree>
    <p:extLst>
      <p:ext uri="{BB962C8B-B14F-4D97-AF65-F5344CB8AC3E}">
        <p14:creationId xmlns:p14="http://schemas.microsoft.com/office/powerpoint/2010/main" val="3594812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56F72-6185-F7D6-F9D1-732FD975827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5B7678-3E13-AF6A-E648-2D34D354284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214D7D6-BE6A-3D09-D79B-0CAE1C0CC2F2}"/>
              </a:ext>
            </a:extLst>
          </p:cNvPr>
          <p:cNvPicPr>
            <a:picLocks noChangeAspect="1"/>
          </p:cNvPicPr>
          <p:nvPr/>
        </p:nvPicPr>
        <p:blipFill>
          <a:blip r:embed="rId2"/>
          <a:stretch>
            <a:fillRect/>
          </a:stretch>
        </p:blipFill>
        <p:spPr>
          <a:xfrm>
            <a:off x="445503" y="0"/>
            <a:ext cx="11300993" cy="6858000"/>
          </a:xfrm>
          <a:prstGeom prst="rect">
            <a:avLst/>
          </a:prstGeom>
        </p:spPr>
      </p:pic>
    </p:spTree>
    <p:extLst>
      <p:ext uri="{BB962C8B-B14F-4D97-AF65-F5344CB8AC3E}">
        <p14:creationId xmlns:p14="http://schemas.microsoft.com/office/powerpoint/2010/main" val="2928779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239E-30A6-E05D-802C-25D9A53CC23D}"/>
              </a:ext>
            </a:extLst>
          </p:cNvPr>
          <p:cNvSpPr>
            <a:spLocks noGrp="1"/>
          </p:cNvSpPr>
          <p:nvPr>
            <p:ph type="title"/>
          </p:nvPr>
        </p:nvSpPr>
        <p:spPr>
          <a:xfrm>
            <a:off x="107907" y="-61525"/>
            <a:ext cx="10515600" cy="1325563"/>
          </a:xfrm>
        </p:spPr>
        <p:txBody>
          <a:bodyPr>
            <a:normAutofit/>
          </a:bodyPr>
          <a:lstStyle/>
          <a:p>
            <a:r>
              <a:rPr lang="en-US" dirty="0">
                <a:latin typeface="+mn-lt"/>
              </a:rPr>
              <a:t>EDA findings / Dataset Breakdown</a:t>
            </a:r>
          </a:p>
        </p:txBody>
      </p:sp>
      <p:sp>
        <p:nvSpPr>
          <p:cNvPr id="3" name="Content Placeholder 2">
            <a:extLst>
              <a:ext uri="{FF2B5EF4-FFF2-40B4-BE49-F238E27FC236}">
                <a16:creationId xmlns:a16="http://schemas.microsoft.com/office/drawing/2014/main" id="{3D9E3034-4CB5-D39B-AF38-80D14C72BA99}"/>
              </a:ext>
            </a:extLst>
          </p:cNvPr>
          <p:cNvSpPr>
            <a:spLocks noGrp="1"/>
          </p:cNvSpPr>
          <p:nvPr>
            <p:ph idx="1"/>
          </p:nvPr>
        </p:nvSpPr>
        <p:spPr>
          <a:xfrm>
            <a:off x="263887" y="1399216"/>
            <a:ext cx="11089913" cy="4777747"/>
          </a:xfrm>
        </p:spPr>
        <p:txBody>
          <a:bodyPr/>
          <a:lstStyle/>
          <a:p>
            <a:r>
              <a:rPr lang="en-US" dirty="0"/>
              <a:t>Dataset: </a:t>
            </a:r>
            <a:r>
              <a:rPr lang="en-US" sz="1600" dirty="0"/>
              <a:t>https://data.cityofnewyork.us/Environment/NYCDEP-Citywide-Catch-Basins/2w2g-fk3i/about_data</a:t>
            </a:r>
          </a:p>
          <a:p>
            <a:r>
              <a:rPr lang="en-US" dirty="0"/>
              <a:t>The CSV file stores 154,212 records</a:t>
            </a:r>
          </a:p>
          <a:p>
            <a:r>
              <a:rPr lang="en-US" dirty="0"/>
              <a:t>There are 6 columns and no missing values. There are 154,212 unique UNIT ID values</a:t>
            </a:r>
          </a:p>
        </p:txBody>
      </p:sp>
      <p:pic>
        <p:nvPicPr>
          <p:cNvPr id="11" name="Picture 10">
            <a:extLst>
              <a:ext uri="{FF2B5EF4-FFF2-40B4-BE49-F238E27FC236}">
                <a16:creationId xmlns:a16="http://schemas.microsoft.com/office/drawing/2014/main" id="{DD59F8D9-58FD-A882-43BE-5BBD894B67EC}"/>
              </a:ext>
            </a:extLst>
          </p:cNvPr>
          <p:cNvPicPr>
            <a:picLocks noChangeAspect="1"/>
          </p:cNvPicPr>
          <p:nvPr/>
        </p:nvPicPr>
        <p:blipFill>
          <a:blip r:embed="rId3"/>
          <a:stretch>
            <a:fillRect/>
          </a:stretch>
        </p:blipFill>
        <p:spPr>
          <a:xfrm>
            <a:off x="4039539" y="3256610"/>
            <a:ext cx="7888574" cy="3432623"/>
          </a:xfrm>
          <a:prstGeom prst="rect">
            <a:avLst/>
          </a:prstGeom>
        </p:spPr>
      </p:pic>
    </p:spTree>
    <p:extLst>
      <p:ext uri="{BB962C8B-B14F-4D97-AF65-F5344CB8AC3E}">
        <p14:creationId xmlns:p14="http://schemas.microsoft.com/office/powerpoint/2010/main" val="3287298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60B34-53E6-7ED6-F14A-980B7DC81CA4}"/>
              </a:ext>
            </a:extLst>
          </p:cNvPr>
          <p:cNvSpPr>
            <a:spLocks noGrp="1"/>
          </p:cNvSpPr>
          <p:nvPr>
            <p:ph type="title"/>
          </p:nvPr>
        </p:nvSpPr>
        <p:spPr>
          <a:xfrm>
            <a:off x="157003" y="76615"/>
            <a:ext cx="10515600" cy="1325563"/>
          </a:xfrm>
        </p:spPr>
        <p:txBody>
          <a:bodyPr>
            <a:noAutofit/>
          </a:bodyPr>
          <a:lstStyle/>
          <a:p>
            <a:r>
              <a:rPr lang="en-US" dirty="0"/>
              <a:t>Dataset limitations</a:t>
            </a:r>
          </a:p>
        </p:txBody>
      </p:sp>
      <p:sp>
        <p:nvSpPr>
          <p:cNvPr id="3" name="Content Placeholder 2">
            <a:extLst>
              <a:ext uri="{FF2B5EF4-FFF2-40B4-BE49-F238E27FC236}">
                <a16:creationId xmlns:a16="http://schemas.microsoft.com/office/drawing/2014/main" id="{28F36EBB-6B97-7E96-57D7-D1504D749A13}"/>
              </a:ext>
            </a:extLst>
          </p:cNvPr>
          <p:cNvSpPr>
            <a:spLocks noGrp="1"/>
          </p:cNvSpPr>
          <p:nvPr>
            <p:ph idx="1"/>
          </p:nvPr>
        </p:nvSpPr>
        <p:spPr>
          <a:xfrm>
            <a:off x="285878" y="1402178"/>
            <a:ext cx="10515600" cy="4351338"/>
          </a:xfrm>
        </p:spPr>
        <p:txBody>
          <a:bodyPr>
            <a:normAutofit/>
          </a:bodyPr>
          <a:lstStyle/>
          <a:p>
            <a:r>
              <a:rPr lang="en-US" sz="3200" dirty="0"/>
              <a:t>Limitations with this data:</a:t>
            </a:r>
          </a:p>
          <a:p>
            <a:r>
              <a:rPr lang="en-US" sz="3200" dirty="0"/>
              <a:t>The dataset doesn’t tell us the condition, capacity, or maintenance history of the catch basin</a:t>
            </a:r>
          </a:p>
          <a:p>
            <a:r>
              <a:rPr lang="en-US" sz="3200" dirty="0"/>
              <a:t>No information on clogging or downstream capacity</a:t>
            </a:r>
          </a:p>
          <a:p>
            <a:endParaRPr lang="en-US" sz="3200" dirty="0"/>
          </a:p>
        </p:txBody>
      </p:sp>
    </p:spTree>
    <p:extLst>
      <p:ext uri="{BB962C8B-B14F-4D97-AF65-F5344CB8AC3E}">
        <p14:creationId xmlns:p14="http://schemas.microsoft.com/office/powerpoint/2010/main" val="3298405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69BFB-A0EF-ED3B-723B-95378A493719}"/>
              </a:ext>
            </a:extLst>
          </p:cNvPr>
          <p:cNvSpPr>
            <a:spLocks noGrp="1"/>
          </p:cNvSpPr>
          <p:nvPr>
            <p:ph type="title"/>
          </p:nvPr>
        </p:nvSpPr>
        <p:spPr>
          <a:xfrm>
            <a:off x="255193" y="64416"/>
            <a:ext cx="10515600" cy="1325563"/>
          </a:xfrm>
        </p:spPr>
        <p:txBody>
          <a:bodyPr>
            <a:noAutofit/>
          </a:bodyPr>
          <a:lstStyle/>
          <a:p>
            <a:r>
              <a:rPr lang="en-US" sz="3600" dirty="0"/>
              <a:t>Visual Interface Citywide Catchbasins</a:t>
            </a:r>
          </a:p>
        </p:txBody>
      </p:sp>
      <p:sp>
        <p:nvSpPr>
          <p:cNvPr id="8" name="Content Placeholder 2">
            <a:extLst>
              <a:ext uri="{FF2B5EF4-FFF2-40B4-BE49-F238E27FC236}">
                <a16:creationId xmlns:a16="http://schemas.microsoft.com/office/drawing/2014/main" id="{0F00028D-4ACC-82B2-1426-2B48E959FC69}"/>
              </a:ext>
            </a:extLst>
          </p:cNvPr>
          <p:cNvSpPr>
            <a:spLocks noGrp="1"/>
          </p:cNvSpPr>
          <p:nvPr>
            <p:ph idx="1"/>
          </p:nvPr>
        </p:nvSpPr>
        <p:spPr>
          <a:xfrm>
            <a:off x="5358395" y="1371599"/>
            <a:ext cx="6446520" cy="4114801"/>
          </a:xfrm>
        </p:spPr>
        <p:txBody>
          <a:bodyPr>
            <a:normAutofit lnSpcReduction="10000"/>
          </a:bodyPr>
          <a:lstStyle/>
          <a:p>
            <a:pPr marL="0" lvl="0" indent="0">
              <a:buNone/>
            </a:pPr>
            <a:endParaRPr lang="en-US" dirty="0"/>
          </a:p>
          <a:p>
            <a:pPr lvl="0"/>
            <a:r>
              <a:rPr lang="en-US" dirty="0"/>
              <a:t>The interface will congregate data points into equal-area hexagons for a clear citywide overview which users can zoom into</a:t>
            </a:r>
          </a:p>
          <a:p>
            <a:pPr lvl="0"/>
            <a:r>
              <a:rPr lang="en-US" dirty="0"/>
              <a:t>Hexagons with a higher concentration of catch basins are darker (1 to 100+)</a:t>
            </a:r>
          </a:p>
          <a:p>
            <a:pPr lvl="0"/>
            <a:r>
              <a:rPr lang="en-US" dirty="0"/>
              <a:t>This allows users to identify broad spatial patterns before diving into specific neighborhoods</a:t>
            </a:r>
          </a:p>
          <a:p>
            <a:pPr marL="0" lvl="0" indent="0">
              <a:buNone/>
            </a:pPr>
            <a:endParaRPr lang="en-US" dirty="0"/>
          </a:p>
          <a:p>
            <a:endParaRPr lang="en-US" dirty="0"/>
          </a:p>
        </p:txBody>
      </p:sp>
      <p:pic>
        <p:nvPicPr>
          <p:cNvPr id="7" name="Picture 6">
            <a:extLst>
              <a:ext uri="{FF2B5EF4-FFF2-40B4-BE49-F238E27FC236}">
                <a16:creationId xmlns:a16="http://schemas.microsoft.com/office/drawing/2014/main" id="{13DC6F93-F5ED-D9F8-01F2-5AEA8BDF1E2C}"/>
              </a:ext>
            </a:extLst>
          </p:cNvPr>
          <p:cNvPicPr>
            <a:picLocks noChangeAspect="1"/>
          </p:cNvPicPr>
          <p:nvPr/>
        </p:nvPicPr>
        <p:blipFill>
          <a:blip r:embed="rId2"/>
          <a:stretch>
            <a:fillRect/>
          </a:stretch>
        </p:blipFill>
        <p:spPr>
          <a:xfrm>
            <a:off x="313440" y="1166014"/>
            <a:ext cx="4794628" cy="5367570"/>
          </a:xfrm>
          <a:prstGeom prst="rect">
            <a:avLst/>
          </a:prstGeom>
        </p:spPr>
      </p:pic>
    </p:spTree>
    <p:extLst>
      <p:ext uri="{BB962C8B-B14F-4D97-AF65-F5344CB8AC3E}">
        <p14:creationId xmlns:p14="http://schemas.microsoft.com/office/powerpoint/2010/main" val="9690293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78ED4-439E-2060-85C2-5D9C5DD48D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DBD171-AD31-7483-1B0C-24770A786252}"/>
              </a:ext>
            </a:extLst>
          </p:cNvPr>
          <p:cNvSpPr>
            <a:spLocks noGrp="1"/>
          </p:cNvSpPr>
          <p:nvPr>
            <p:ph type="title"/>
          </p:nvPr>
        </p:nvSpPr>
        <p:spPr>
          <a:xfrm>
            <a:off x="408616" y="162607"/>
            <a:ext cx="10515600" cy="1325563"/>
          </a:xfrm>
        </p:spPr>
        <p:txBody>
          <a:bodyPr>
            <a:noAutofit/>
          </a:bodyPr>
          <a:lstStyle/>
          <a:p>
            <a:r>
              <a:rPr lang="en-US" sz="3600" dirty="0"/>
              <a:t>Zoomed in View of the East Village</a:t>
            </a:r>
          </a:p>
        </p:txBody>
      </p:sp>
      <p:sp>
        <p:nvSpPr>
          <p:cNvPr id="8" name="Content Placeholder 2">
            <a:extLst>
              <a:ext uri="{FF2B5EF4-FFF2-40B4-BE49-F238E27FC236}">
                <a16:creationId xmlns:a16="http://schemas.microsoft.com/office/drawing/2014/main" id="{C35CAE0F-AE49-BBA4-62DC-DFE5DC0AA021}"/>
              </a:ext>
            </a:extLst>
          </p:cNvPr>
          <p:cNvSpPr>
            <a:spLocks noGrp="1"/>
          </p:cNvSpPr>
          <p:nvPr>
            <p:ph idx="1"/>
          </p:nvPr>
        </p:nvSpPr>
        <p:spPr>
          <a:xfrm>
            <a:off x="5250948" y="1795008"/>
            <a:ext cx="6446520" cy="4114801"/>
          </a:xfrm>
        </p:spPr>
        <p:txBody>
          <a:bodyPr>
            <a:normAutofit/>
          </a:bodyPr>
          <a:lstStyle/>
          <a:p>
            <a:r>
              <a:rPr lang="en-US" dirty="0"/>
              <a:t>The map zooms into the selected area when you click a hexagon</a:t>
            </a:r>
          </a:p>
          <a:p>
            <a:r>
              <a:rPr lang="en-US" dirty="0"/>
              <a:t>The catchbasins layout a grid of the East Village, with Tompkins square park easily recognizable</a:t>
            </a:r>
          </a:p>
          <a:p>
            <a:r>
              <a:rPr lang="en-US" dirty="0"/>
              <a:t>The user can view all of New York’s catchbasins</a:t>
            </a:r>
          </a:p>
        </p:txBody>
      </p:sp>
      <p:pic>
        <p:nvPicPr>
          <p:cNvPr id="4" name="Picture 3">
            <a:extLst>
              <a:ext uri="{FF2B5EF4-FFF2-40B4-BE49-F238E27FC236}">
                <a16:creationId xmlns:a16="http://schemas.microsoft.com/office/drawing/2014/main" id="{955DA07D-6ACF-3727-6BDA-590CC8B55CFF}"/>
              </a:ext>
            </a:extLst>
          </p:cNvPr>
          <p:cNvPicPr>
            <a:picLocks noChangeAspect="1"/>
          </p:cNvPicPr>
          <p:nvPr/>
        </p:nvPicPr>
        <p:blipFill>
          <a:blip r:embed="rId2"/>
          <a:stretch>
            <a:fillRect/>
          </a:stretch>
        </p:blipFill>
        <p:spPr>
          <a:xfrm>
            <a:off x="226554" y="1399856"/>
            <a:ext cx="4762756" cy="5129778"/>
          </a:xfrm>
          <a:prstGeom prst="rect">
            <a:avLst/>
          </a:prstGeom>
        </p:spPr>
      </p:pic>
    </p:spTree>
    <p:extLst>
      <p:ext uri="{BB962C8B-B14F-4D97-AF65-F5344CB8AC3E}">
        <p14:creationId xmlns:p14="http://schemas.microsoft.com/office/powerpoint/2010/main" val="3182475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004A6-31B7-1E07-421A-FCD3D447EF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810999-1559-D2A8-C677-C397974E2335}"/>
              </a:ext>
            </a:extLst>
          </p:cNvPr>
          <p:cNvSpPr>
            <a:spLocks noGrp="1"/>
          </p:cNvSpPr>
          <p:nvPr>
            <p:ph type="title"/>
          </p:nvPr>
        </p:nvSpPr>
        <p:spPr>
          <a:xfrm>
            <a:off x="549765" y="174881"/>
            <a:ext cx="10515600" cy="1325563"/>
          </a:xfrm>
        </p:spPr>
        <p:txBody>
          <a:bodyPr>
            <a:noAutofit/>
          </a:bodyPr>
          <a:lstStyle/>
          <a:p>
            <a:r>
              <a:rPr lang="en-US" sz="3600" dirty="0"/>
              <a:t>Inspecting a Catchbasin and its data</a:t>
            </a:r>
          </a:p>
        </p:txBody>
      </p:sp>
      <p:sp>
        <p:nvSpPr>
          <p:cNvPr id="8" name="Content Placeholder 2">
            <a:extLst>
              <a:ext uri="{FF2B5EF4-FFF2-40B4-BE49-F238E27FC236}">
                <a16:creationId xmlns:a16="http://schemas.microsoft.com/office/drawing/2014/main" id="{C8E65F6D-8F61-4AF7-C09F-F9BB96BFDAD3}"/>
              </a:ext>
            </a:extLst>
          </p:cNvPr>
          <p:cNvSpPr>
            <a:spLocks noGrp="1"/>
          </p:cNvSpPr>
          <p:nvPr>
            <p:ph idx="1"/>
          </p:nvPr>
        </p:nvSpPr>
        <p:spPr>
          <a:xfrm>
            <a:off x="6455135" y="2061468"/>
            <a:ext cx="5622307" cy="4114801"/>
          </a:xfrm>
        </p:spPr>
        <p:txBody>
          <a:bodyPr/>
          <a:lstStyle/>
          <a:p>
            <a:r>
              <a:rPr lang="en-US" dirty="0"/>
              <a:t>The user can select a dot and get a record behind each dot</a:t>
            </a:r>
          </a:p>
          <a:p>
            <a:r>
              <a:rPr lang="en-US" dirty="0"/>
              <a:t>Displays the unique Catch Basin ID alongside its exact latitude and longitude. </a:t>
            </a:r>
          </a:p>
          <a:p>
            <a:r>
              <a:rPr lang="en-US" dirty="0"/>
              <a:t>Directly connects the front-end visual mapping back to the raw structural data. </a:t>
            </a:r>
          </a:p>
          <a:p>
            <a:endParaRPr lang="en-US" dirty="0"/>
          </a:p>
        </p:txBody>
      </p:sp>
      <p:pic>
        <p:nvPicPr>
          <p:cNvPr id="5" name="Picture 4">
            <a:extLst>
              <a:ext uri="{FF2B5EF4-FFF2-40B4-BE49-F238E27FC236}">
                <a16:creationId xmlns:a16="http://schemas.microsoft.com/office/drawing/2014/main" id="{93C11103-1BDF-3103-5DB8-C3C2D08BBA3A}"/>
              </a:ext>
            </a:extLst>
          </p:cNvPr>
          <p:cNvPicPr>
            <a:picLocks noChangeAspect="1"/>
          </p:cNvPicPr>
          <p:nvPr/>
        </p:nvPicPr>
        <p:blipFill>
          <a:blip r:embed="rId2"/>
          <a:stretch>
            <a:fillRect/>
          </a:stretch>
        </p:blipFill>
        <p:spPr>
          <a:xfrm>
            <a:off x="254014" y="2019197"/>
            <a:ext cx="6201121" cy="4199344"/>
          </a:xfrm>
          <a:prstGeom prst="rect">
            <a:avLst/>
          </a:prstGeom>
        </p:spPr>
      </p:pic>
    </p:spTree>
    <p:extLst>
      <p:ext uri="{BB962C8B-B14F-4D97-AF65-F5344CB8AC3E}">
        <p14:creationId xmlns:p14="http://schemas.microsoft.com/office/powerpoint/2010/main" val="19858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5B0C-EC5A-38AA-E49C-E8D88C067C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14865F-DB6D-55B1-865A-A7F84A54651C}"/>
              </a:ext>
            </a:extLst>
          </p:cNvPr>
          <p:cNvSpPr>
            <a:spLocks noGrp="1"/>
          </p:cNvSpPr>
          <p:nvPr>
            <p:ph type="title"/>
          </p:nvPr>
        </p:nvSpPr>
        <p:spPr>
          <a:xfrm>
            <a:off x="279740" y="82827"/>
            <a:ext cx="10515600" cy="1325563"/>
          </a:xfrm>
        </p:spPr>
        <p:txBody>
          <a:bodyPr>
            <a:noAutofit/>
          </a:bodyPr>
          <a:lstStyle/>
          <a:p>
            <a:r>
              <a:rPr lang="en-US" sz="3600" dirty="0"/>
              <a:t>D3 Prototype for Next Week</a:t>
            </a:r>
          </a:p>
        </p:txBody>
      </p:sp>
      <p:pic>
        <p:nvPicPr>
          <p:cNvPr id="4" name="Picture 3">
            <a:extLst>
              <a:ext uri="{FF2B5EF4-FFF2-40B4-BE49-F238E27FC236}">
                <a16:creationId xmlns:a16="http://schemas.microsoft.com/office/drawing/2014/main" id="{40363BDC-B5B2-9A61-0F8F-B930234B41CC}"/>
              </a:ext>
            </a:extLst>
          </p:cNvPr>
          <p:cNvPicPr>
            <a:picLocks noChangeAspect="1"/>
          </p:cNvPicPr>
          <p:nvPr/>
        </p:nvPicPr>
        <p:blipFill>
          <a:blip r:embed="rId2"/>
          <a:stretch>
            <a:fillRect/>
          </a:stretch>
        </p:blipFill>
        <p:spPr>
          <a:xfrm>
            <a:off x="5314135" y="2500760"/>
            <a:ext cx="6627942" cy="2715615"/>
          </a:xfrm>
          <a:prstGeom prst="rect">
            <a:avLst/>
          </a:prstGeom>
        </p:spPr>
      </p:pic>
      <p:sp>
        <p:nvSpPr>
          <p:cNvPr id="5" name="Content Placeholder 2">
            <a:extLst>
              <a:ext uri="{FF2B5EF4-FFF2-40B4-BE49-F238E27FC236}">
                <a16:creationId xmlns:a16="http://schemas.microsoft.com/office/drawing/2014/main" id="{E11EBE8E-FBDE-654B-9271-DCE8CEF758BF}"/>
              </a:ext>
            </a:extLst>
          </p:cNvPr>
          <p:cNvSpPr>
            <a:spLocks noGrp="1"/>
          </p:cNvSpPr>
          <p:nvPr>
            <p:ph idx="1"/>
          </p:nvPr>
        </p:nvSpPr>
        <p:spPr>
          <a:xfrm>
            <a:off x="279740" y="1408390"/>
            <a:ext cx="4566760" cy="4114801"/>
          </a:xfrm>
        </p:spPr>
        <p:txBody>
          <a:bodyPr>
            <a:normAutofit/>
          </a:bodyPr>
          <a:lstStyle/>
          <a:p>
            <a:pPr marL="0" indent="0">
              <a:buNone/>
            </a:pPr>
            <a:r>
              <a:rPr lang="en-US" b="1" dirty="0"/>
              <a:t>Considerations</a:t>
            </a:r>
          </a:p>
          <a:p>
            <a:pPr marL="0" indent="0">
              <a:buNone/>
            </a:pPr>
            <a:r>
              <a:rPr lang="en-US" dirty="0">
                <a:sym typeface="Wingdings" panose="05000000000000000000" pitchFamily="2" charset="2"/>
              </a:rPr>
              <a:t> Add borough boundaries for more accurate filtering</a:t>
            </a:r>
          </a:p>
          <a:p>
            <a:pPr marL="0" indent="0">
              <a:buNone/>
            </a:pPr>
            <a:r>
              <a:rPr lang="en-US" dirty="0">
                <a:sym typeface="Wingdings" panose="05000000000000000000" pitchFamily="2" charset="2"/>
              </a:rPr>
              <a:t> Consider 311 catch basin complaints as a separate layer</a:t>
            </a:r>
            <a:endParaRPr lang="en-US" dirty="0"/>
          </a:p>
        </p:txBody>
      </p:sp>
    </p:spTree>
    <p:extLst>
      <p:ext uri="{BB962C8B-B14F-4D97-AF65-F5344CB8AC3E}">
        <p14:creationId xmlns:p14="http://schemas.microsoft.com/office/powerpoint/2010/main" val="3477813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138</TotalTime>
  <Words>486</Words>
  <Application>Microsoft Office PowerPoint</Application>
  <PresentationFormat>Widescreen</PresentationFormat>
  <Paragraphs>46</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Wingdings</vt:lpstr>
      <vt:lpstr>Office Theme</vt:lpstr>
      <vt:lpstr>NYC Catch Basins Mapping New York City’s street wide drainage systems </vt:lpstr>
      <vt:lpstr>Why Catchbasins?</vt:lpstr>
      <vt:lpstr>PowerPoint Presentation</vt:lpstr>
      <vt:lpstr>EDA findings / Dataset Breakdown</vt:lpstr>
      <vt:lpstr>Dataset limitations</vt:lpstr>
      <vt:lpstr>Visual Interface Citywide Catchbasins</vt:lpstr>
      <vt:lpstr>Zoomed in View of the East Village</vt:lpstr>
      <vt:lpstr>Inspecting a Catchbasin and its data</vt:lpstr>
      <vt:lpstr>D3 Prototype for 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Abhijeet Khirdekar</dc:creator>
  <cp:lastModifiedBy>Abhijeet Khirdekar</cp:lastModifiedBy>
  <cp:revision>3</cp:revision>
  <dcterms:created xsi:type="dcterms:W3CDTF">2026-10-07T19:05:54Z</dcterms:created>
  <dcterms:modified xsi:type="dcterms:W3CDTF">2026-10-07T21:24:16Z</dcterms:modified>
</cp:coreProperties>
</file>